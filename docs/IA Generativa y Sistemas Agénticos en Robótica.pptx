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69.png" ContentType="image/png"/>
  <Override PartName="/ppt/media/image32.png" ContentType="image/png"/>
  <Override PartName="/ppt/media/image14.png" ContentType="image/png"/>
  <Override PartName="/ppt/media/image2.png" ContentType="image/png"/>
  <Override PartName="/ppt/media/image33.png" ContentType="image/png"/>
  <Override PartName="/ppt/media/image15.png" ContentType="image/png"/>
  <Override PartName="/ppt/media/image3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26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59.png" ContentType="image/png"/>
  <Override PartName="/ppt/media/image22.png" ContentType="image/png"/>
  <Override PartName="/ppt/media/image61.png" ContentType="image/png"/>
  <Override PartName="/ppt/media/image23.png" ContentType="image/png"/>
  <Override PartName="/ppt/media/image60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Pulse para editar el formato del texto de título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Pulse para editar el formato de texto del esquema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Segundo nivel del esquema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Tercer nivel del esquema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Cuarto nivel del esquema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Quinto nivel del esquema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Sexto nivel del esquema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Séptimo nivel del esquema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mailto:uo34525@uniovi.es" TargetMode="Externa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hyperlink" Target="https://gemini.google/es/students/?hl=es" TargetMode="External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39" name="Picture 2" descr="image.png"/>
          <p:cNvPicPr/>
          <p:nvPr/>
        </p:nvPicPr>
        <p:blipFill>
          <a:blip r:embed="rId2"/>
          <a:stretch/>
        </p:blipFill>
        <p:spPr>
          <a:xfrm>
            <a:off x="4238640" y="2169720"/>
            <a:ext cx="3711960" cy="31140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995400" y="2674440"/>
            <a:ext cx="10198440" cy="1226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4830"/>
              </a:lnSpc>
            </a:pPr>
            <a:r>
              <a:rPr b="1" lang="en-US" sz="4200" spc="-1" strike="noStrike">
                <a:solidFill>
                  <a:srgbClr val="0f172a"/>
                </a:solidFill>
                <a:latin typeface="Poppins"/>
                <a:ea typeface="DejaVu Sans"/>
              </a:rPr>
              <a:t>IA Generativa y Sistemas </a:t>
            </a:r>
            <a:r>
              <a:rPr b="1" lang="en-US" sz="4200" spc="-1" strike="noStrike">
                <a:solidFill>
                  <a:srgbClr val="0284c7"/>
                </a:solidFill>
                <a:latin typeface="Poppins"/>
                <a:ea typeface="DejaVu Sans"/>
              </a:rPr>
              <a:t>Agénticos</a:t>
            </a:r>
            <a:endParaRPr b="0" lang="es-ES" sz="4200" spc="-1" strike="noStrike">
              <a:latin typeface="Arial"/>
            </a:endParaRPr>
          </a:p>
        </p:txBody>
      </p:sp>
      <p:sp>
        <p:nvSpPr>
          <p:cNvPr id="41" name="CustomShape 2"/>
          <p:cNvSpPr/>
          <p:nvPr/>
        </p:nvSpPr>
        <p:spPr>
          <a:xfrm>
            <a:off x="2000160" y="3857400"/>
            <a:ext cx="8188560" cy="28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2251"/>
              </a:lnSpc>
            </a:pPr>
            <a:r>
              <a:rPr b="0" lang="en-US" sz="1500" spc="-1" strike="noStrike">
                <a:solidFill>
                  <a:srgbClr val="475569"/>
                </a:solidFill>
                <a:latin typeface="Lato"/>
                <a:ea typeface="DejaVu Sans"/>
              </a:rPr>
              <a:t>Herramientas remotas y locales, desarrollo asistido y casos de aplicación real</a:t>
            </a:r>
            <a:endParaRPr b="0" lang="es-ES" sz="1500" spc="-1" strike="noStrike">
              <a:latin typeface="Arial"/>
            </a:endParaRPr>
          </a:p>
        </p:txBody>
      </p:sp>
      <p:sp>
        <p:nvSpPr>
          <p:cNvPr id="42" name="CustomShape 3"/>
          <p:cNvSpPr/>
          <p:nvPr/>
        </p:nvSpPr>
        <p:spPr>
          <a:xfrm>
            <a:off x="3976560" y="4696560"/>
            <a:ext cx="4235760" cy="687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130" spc="-1" strike="noStrike">
                <a:solidFill>
                  <a:srgbClr val="64748b"/>
                </a:solidFill>
                <a:latin typeface="Lato"/>
                <a:ea typeface="DejaVu Sans"/>
              </a:rPr>
              <a:t>Miguel Ángel Salinas Gancedo</a:t>
            </a:r>
            <a:br/>
            <a:endParaRPr b="0" lang="es-ES" sz="113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30" spc="-1" strike="noStrike" u="sng">
                <a:solidFill>
                  <a:srgbClr val="0000ff"/>
                </a:solidFill>
                <a:uFillTx/>
                <a:latin typeface="Lato"/>
                <a:ea typeface="DejaVu Sans"/>
                <a:hlinkClick r:id="rId3"/>
              </a:rPr>
              <a:t>uo34525@uniovi.es</a:t>
            </a:r>
            <a:br/>
            <a:r>
              <a:rPr b="0" lang="en-US" sz="1130" spc="-1" strike="noStrike">
                <a:solidFill>
                  <a:srgbClr val="64748b"/>
                </a:solidFill>
                <a:latin typeface="Lato"/>
                <a:ea typeface="DejaVu Sans"/>
              </a:rPr>
              <a:t>masalinas.gancedo@gmail.com</a:t>
            </a:r>
            <a:endParaRPr b="0" lang="es-ES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44" name="Picture 2" descr="image.png"/>
          <p:cNvPicPr/>
          <p:nvPr/>
        </p:nvPicPr>
        <p:blipFill>
          <a:blip r:embed="rId2"/>
          <a:stretch/>
        </p:blipFill>
        <p:spPr>
          <a:xfrm>
            <a:off x="571680" y="4019400"/>
            <a:ext cx="2427840" cy="1237320"/>
          </a:xfrm>
          <a:prstGeom prst="rect">
            <a:avLst/>
          </a:prstGeom>
          <a:ln>
            <a:noFill/>
          </a:ln>
        </p:spPr>
      </p:pic>
      <p:pic>
        <p:nvPicPr>
          <p:cNvPr id="45" name="Picture 3" descr="image.png"/>
          <p:cNvPicPr/>
          <p:nvPr/>
        </p:nvPicPr>
        <p:blipFill>
          <a:blip r:embed="rId3"/>
          <a:stretch/>
        </p:blipFill>
        <p:spPr>
          <a:xfrm>
            <a:off x="3444120" y="2489400"/>
            <a:ext cx="2427840" cy="1069920"/>
          </a:xfrm>
          <a:prstGeom prst="rect">
            <a:avLst/>
          </a:prstGeom>
          <a:ln>
            <a:noFill/>
          </a:ln>
        </p:spPr>
      </p:pic>
      <p:pic>
        <p:nvPicPr>
          <p:cNvPr id="46" name="Picture 4" descr="image.png"/>
          <p:cNvPicPr/>
          <p:nvPr/>
        </p:nvPicPr>
        <p:blipFill>
          <a:blip r:embed="rId4"/>
          <a:stretch/>
        </p:blipFill>
        <p:spPr>
          <a:xfrm>
            <a:off x="6316920" y="4019400"/>
            <a:ext cx="2427840" cy="1237320"/>
          </a:xfrm>
          <a:prstGeom prst="rect">
            <a:avLst/>
          </a:prstGeom>
          <a:ln>
            <a:noFill/>
          </a:ln>
        </p:spPr>
      </p:pic>
      <p:pic>
        <p:nvPicPr>
          <p:cNvPr id="47" name="Picture 5" descr="image.png"/>
          <p:cNvPicPr/>
          <p:nvPr/>
        </p:nvPicPr>
        <p:blipFill>
          <a:blip r:embed="rId5"/>
          <a:stretch/>
        </p:blipFill>
        <p:spPr>
          <a:xfrm>
            <a:off x="9189720" y="2322360"/>
            <a:ext cx="2427840" cy="1237320"/>
          </a:xfrm>
          <a:prstGeom prst="rect">
            <a:avLst/>
          </a:prstGeom>
          <a:ln>
            <a:noFill/>
          </a:ln>
        </p:spPr>
      </p:pic>
      <p:sp>
        <p:nvSpPr>
          <p:cNvPr id="48" name="CustomShape 1"/>
          <p:cNvSpPr/>
          <p:nvPr/>
        </p:nvSpPr>
        <p:spPr>
          <a:xfrm>
            <a:off x="571680" y="3772080"/>
            <a:ext cx="11046240" cy="3528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CustomShape 2"/>
          <p:cNvSpPr/>
          <p:nvPr/>
        </p:nvSpPr>
        <p:spPr>
          <a:xfrm>
            <a:off x="660600" y="4162320"/>
            <a:ext cx="2249280" cy="1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28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00 - 30 min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714240" y="4448160"/>
            <a:ext cx="2142000" cy="66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315"/>
              </a:lnSpc>
            </a:pPr>
            <a:r>
              <a:rPr b="1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Fundamentos y Diferencias:</a:t>
            </a:r>
            <a:r>
              <a:rPr b="0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 ML clásico vs GenAI, LLMs multimodales y arquitectura de modelos remotos vs locales.</a:t>
            </a:r>
            <a:endParaRPr b="0" lang="es-ES" sz="980" spc="-1" strike="noStrike">
              <a:latin typeface="Arial"/>
            </a:endParaRPr>
          </a:p>
        </p:txBody>
      </p:sp>
      <p:sp>
        <p:nvSpPr>
          <p:cNvPr id="51" name="CustomShape 4"/>
          <p:cNvSpPr/>
          <p:nvPr/>
        </p:nvSpPr>
        <p:spPr>
          <a:xfrm>
            <a:off x="3533400" y="2632320"/>
            <a:ext cx="2249280" cy="1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28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30 - 60 min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3587040" y="2918160"/>
            <a:ext cx="2142000" cy="66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315"/>
              </a:lnSpc>
            </a:pPr>
            <a:r>
              <a:rPr b="1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Ecosistema &amp; Agentes:</a:t>
            </a:r>
            <a:r>
              <a:rPr b="0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 Del VibeCoding al SDD, protocolos MCP, configuración de Ollama y el TUI Antigravity.</a:t>
            </a:r>
            <a:endParaRPr b="0" lang="es-ES" sz="980" spc="-1" strike="noStrike">
              <a:latin typeface="Arial"/>
            </a:endParaRPr>
          </a:p>
        </p:txBody>
      </p:sp>
      <p:sp>
        <p:nvSpPr>
          <p:cNvPr id="53" name="CustomShape 6"/>
          <p:cNvSpPr/>
          <p:nvPr/>
        </p:nvSpPr>
        <p:spPr>
          <a:xfrm>
            <a:off x="6406200" y="4162320"/>
            <a:ext cx="2249280" cy="1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28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60 - 100 min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54" name="CustomShape 7"/>
          <p:cNvSpPr/>
          <p:nvPr/>
        </p:nvSpPr>
        <p:spPr>
          <a:xfrm>
            <a:off x="6459840" y="4448160"/>
            <a:ext cx="2142000" cy="66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315"/>
              </a:lnSpc>
            </a:pPr>
            <a:r>
              <a:rPr b="1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Demostraciones en Vivo:</a:t>
            </a:r>
            <a:r>
              <a:rPr b="0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 Ejecución de las 3 PoCs (Senoide Python, API FastAPI y simulación cinemática en MATLAB).</a:t>
            </a:r>
            <a:endParaRPr b="0" lang="es-ES" sz="980" spc="-1" strike="noStrike">
              <a:latin typeface="Arial"/>
            </a:endParaRPr>
          </a:p>
        </p:txBody>
      </p:sp>
      <p:sp>
        <p:nvSpPr>
          <p:cNvPr id="55" name="CustomShape 8"/>
          <p:cNvSpPr/>
          <p:nvPr/>
        </p:nvSpPr>
        <p:spPr>
          <a:xfrm>
            <a:off x="9278640" y="2465280"/>
            <a:ext cx="2249280" cy="1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0" lang="en-US" sz="128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100 - 120 min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56" name="CustomShape 9"/>
          <p:cNvSpPr/>
          <p:nvPr/>
        </p:nvSpPr>
        <p:spPr>
          <a:xfrm>
            <a:off x="9332280" y="2750760"/>
            <a:ext cx="2142000" cy="66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1315"/>
              </a:lnSpc>
            </a:pPr>
            <a:r>
              <a:rPr b="1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Laboratorio &amp; Debate:</a:t>
            </a:r>
            <a:r>
              <a:rPr b="0" lang="en-US" sz="980" spc="-1" strike="noStrike">
                <a:solidFill>
                  <a:srgbClr val="334155"/>
                </a:solidFill>
                <a:latin typeface="Lato"/>
                <a:ea typeface="DejaVu Sans"/>
              </a:rPr>
              <a:t> Réplica guiada en equipos de alumnos, resolución de dudas técnicas y recomendaciones de carrera.</a:t>
            </a:r>
            <a:endParaRPr b="0" lang="es-ES" sz="980" spc="-1" strike="noStrike">
              <a:latin typeface="Arial"/>
            </a:endParaRPr>
          </a:p>
        </p:txBody>
      </p:sp>
      <p:sp>
        <p:nvSpPr>
          <p:cNvPr id="57" name="CustomShape 10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Estructura del Taller</a:t>
            </a:r>
            <a:endParaRPr b="0" lang="es-ES" sz="2550" spc="-1" strike="noStrike">
              <a:latin typeface="Arial"/>
            </a:endParaRPr>
          </a:p>
        </p:txBody>
      </p:sp>
      <p:sp>
        <p:nvSpPr>
          <p:cNvPr id="58" name="CustomShape 11"/>
          <p:cNvSpPr/>
          <p:nvPr/>
        </p:nvSpPr>
        <p:spPr>
          <a:xfrm>
            <a:off x="1681920" y="3686040"/>
            <a:ext cx="206640" cy="206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284c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12"/>
          <p:cNvSpPr/>
          <p:nvPr/>
        </p:nvSpPr>
        <p:spPr>
          <a:xfrm>
            <a:off x="4554720" y="3686040"/>
            <a:ext cx="206640" cy="206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284c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13"/>
          <p:cNvSpPr/>
          <p:nvPr/>
        </p:nvSpPr>
        <p:spPr>
          <a:xfrm>
            <a:off x="7427520" y="3686040"/>
            <a:ext cx="206640" cy="206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284c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14"/>
          <p:cNvSpPr/>
          <p:nvPr/>
        </p:nvSpPr>
        <p:spPr>
          <a:xfrm>
            <a:off x="10299960" y="3686040"/>
            <a:ext cx="206640" cy="206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60">
            <a:solidFill>
              <a:srgbClr val="0284c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_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63" name="Picture 3_1" descr="image.png"/>
          <p:cNvPicPr/>
          <p:nvPr/>
        </p:nvPicPr>
        <p:blipFill>
          <a:blip r:embed="rId2"/>
          <a:stretch/>
        </p:blipFill>
        <p:spPr>
          <a:xfrm>
            <a:off x="668880" y="2016000"/>
            <a:ext cx="11138400" cy="4175280"/>
          </a:xfrm>
          <a:prstGeom prst="rect">
            <a:avLst/>
          </a:prstGeom>
          <a:ln>
            <a:noFill/>
          </a:ln>
        </p:spPr>
      </p:pic>
      <p:sp>
        <p:nvSpPr>
          <p:cNvPr id="64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De que va este Taller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1015560" y="2107440"/>
            <a:ext cx="9533520" cy="38185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_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67" name="CustomShape 1"/>
          <p:cNvSpPr/>
          <p:nvPr/>
        </p:nvSpPr>
        <p:spPr>
          <a:xfrm>
            <a:off x="571680" y="476280"/>
            <a:ext cx="11598480" cy="38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2664000" y="870120"/>
            <a:ext cx="6390000" cy="5897520"/>
          </a:xfrm>
          <a:prstGeom prst="rect">
            <a:avLst/>
          </a:prstGeom>
          <a:ln>
            <a:noFill/>
          </a:ln>
        </p:spPr>
      </p:pic>
      <p:sp>
        <p:nvSpPr>
          <p:cNvPr id="69" name="CustomShape 2"/>
          <p:cNvSpPr/>
          <p:nvPr/>
        </p:nvSpPr>
        <p:spPr>
          <a:xfrm>
            <a:off x="566640" y="47880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Contexto de la IA</a:t>
            </a:r>
            <a:endParaRPr b="0" lang="es-E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_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864000" y="96840"/>
            <a:ext cx="10727280" cy="6670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graphicFrame>
        <p:nvGraphicFramePr>
          <p:cNvPr id="73" name="Table 1"/>
          <p:cNvGraphicFramePr/>
          <p:nvPr/>
        </p:nvGraphicFramePr>
        <p:xfrm>
          <a:off x="571680" y="2009880"/>
          <a:ext cx="11029320" cy="3561840"/>
        </p:xfrm>
        <a:graphic>
          <a:graphicData uri="http://schemas.openxmlformats.org/drawingml/2006/table">
            <a:tbl>
              <a:tblPr/>
              <a:tblGrid>
                <a:gridCol w="2128320"/>
                <a:gridCol w="4311000"/>
                <a:gridCol w="4590360"/>
              </a:tblGrid>
              <a:tr h="712440"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8fafc"/>
                          </a:solidFill>
                          <a:latin typeface="Poppins SemiBold"/>
                        </a:rPr>
                        <a:t>Criterio</a:t>
                      </a:r>
                      <a:endParaRPr b="0" lang="es-ES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8fafc"/>
                          </a:solidFill>
                          <a:latin typeface="Poppins SemiBold"/>
                        </a:rPr>
                        <a:t>LLM Remoto (Cloud API)</a:t>
                      </a:r>
                      <a:endParaRPr b="0" lang="es-ES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f8fafc"/>
                          </a:solidFill>
                          <a:latin typeface="Poppins SemiBold"/>
                        </a:rPr>
                        <a:t>LLM Local (En Equipo Propio)</a:t>
                      </a:r>
                      <a:endParaRPr b="0" lang="es-ES" sz="120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12440"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Capacidad de Razonamiento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Máxima (modelos frontera de cientos de miles de millones de parámetros).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Limitada por el tamaño de memoria VRAM (7B a 32B parámetros cuantizados).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712440"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Requisitos Hardware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Cualquier equipo con conexión a Internet y navegador o terminal ligero.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GPU dedicada de alta gama (Apple Silicon ≥16-36GB o NVIDIA RTX 4070+).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12440"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Privacidad &amp; Datos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Las peticiones viajan al proveedor en la nube (requiere gobernanza).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100% privado y desconectado; confidencialidad total de código y patentes.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noFill/>
                  </a:tcPr>
                </a:tc>
              </a:tr>
              <a:tr h="712440"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Costes y Planes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Modelos de suscripción o pago por token (descuentos pro para estudiantes).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80" spc="-1" strike="noStrike">
                          <a:solidFill>
                            <a:srgbClr val="334155"/>
                          </a:solidFill>
                          <a:latin typeface="Lato"/>
                        </a:rPr>
                        <a:t>Inversión única en equipo físico; coste variable de electricidad y refrigeración.</a:t>
                      </a:r>
                      <a:endParaRPr b="0" lang="es-ES" sz="1280" spc="-1" strike="noStrike">
                        <a:latin typeface="Arial"/>
                      </a:endParaRPr>
                    </a:p>
                  </a:txBody>
                  <a:tcPr marL="63360" marR="63360">
                    <a:lnL w="12240">
                      <a:noFill/>
                    </a:lnL>
                    <a:lnR w="12240">
                      <a:noFill/>
                    </a:lnR>
                    <a:lnT w="12240">
                      <a:noFill/>
                    </a:lnT>
                    <a:lnB w="12240"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4" name="CustomShape 2"/>
          <p:cNvSpPr/>
          <p:nvPr/>
        </p:nvSpPr>
        <p:spPr>
          <a:xfrm>
            <a:off x="581040" y="2514600"/>
            <a:ext cx="212544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CustomShape 3"/>
          <p:cNvSpPr/>
          <p:nvPr/>
        </p:nvSpPr>
        <p:spPr>
          <a:xfrm>
            <a:off x="2709360" y="2514600"/>
            <a:ext cx="4308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4"/>
          <p:cNvSpPr/>
          <p:nvPr/>
        </p:nvSpPr>
        <p:spPr>
          <a:xfrm>
            <a:off x="7020720" y="2514600"/>
            <a:ext cx="4587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5"/>
          <p:cNvSpPr/>
          <p:nvPr/>
        </p:nvSpPr>
        <p:spPr>
          <a:xfrm>
            <a:off x="581040" y="3276720"/>
            <a:ext cx="212544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6"/>
          <p:cNvSpPr/>
          <p:nvPr/>
        </p:nvSpPr>
        <p:spPr>
          <a:xfrm>
            <a:off x="2709360" y="3276720"/>
            <a:ext cx="4308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CustomShape 7"/>
          <p:cNvSpPr/>
          <p:nvPr/>
        </p:nvSpPr>
        <p:spPr>
          <a:xfrm>
            <a:off x="7020720" y="3276720"/>
            <a:ext cx="4587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8"/>
          <p:cNvSpPr/>
          <p:nvPr/>
        </p:nvSpPr>
        <p:spPr>
          <a:xfrm>
            <a:off x="581040" y="4038480"/>
            <a:ext cx="212544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9"/>
          <p:cNvSpPr/>
          <p:nvPr/>
        </p:nvSpPr>
        <p:spPr>
          <a:xfrm>
            <a:off x="2709360" y="4038480"/>
            <a:ext cx="4308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10"/>
          <p:cNvSpPr/>
          <p:nvPr/>
        </p:nvSpPr>
        <p:spPr>
          <a:xfrm>
            <a:off x="7020720" y="4038480"/>
            <a:ext cx="4587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11"/>
          <p:cNvSpPr/>
          <p:nvPr/>
        </p:nvSpPr>
        <p:spPr>
          <a:xfrm>
            <a:off x="581040" y="4800600"/>
            <a:ext cx="212544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12"/>
          <p:cNvSpPr/>
          <p:nvPr/>
        </p:nvSpPr>
        <p:spPr>
          <a:xfrm>
            <a:off x="2709360" y="4800600"/>
            <a:ext cx="4308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CustomShape 13"/>
          <p:cNvSpPr/>
          <p:nvPr/>
        </p:nvSpPr>
        <p:spPr>
          <a:xfrm>
            <a:off x="7020720" y="4800600"/>
            <a:ext cx="4587480" cy="64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14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Modelos Remotos vs Modelos Locales</a:t>
            </a:r>
            <a:endParaRPr b="0" lang="es-E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88" name="Picture 2" descr="image.png"/>
          <p:cNvPicPr/>
          <p:nvPr/>
        </p:nvPicPr>
        <p:blipFill>
          <a:blip r:embed="rId2"/>
          <a:stretch/>
        </p:blipFill>
        <p:spPr>
          <a:xfrm>
            <a:off x="571680" y="2221560"/>
            <a:ext cx="2588040" cy="3135600"/>
          </a:xfrm>
          <a:prstGeom prst="rect">
            <a:avLst/>
          </a:prstGeom>
          <a:ln>
            <a:noFill/>
          </a:ln>
        </p:spPr>
      </p:pic>
      <p:pic>
        <p:nvPicPr>
          <p:cNvPr id="89" name="Picture 3" descr="image.png"/>
          <p:cNvPicPr/>
          <p:nvPr/>
        </p:nvPicPr>
        <p:blipFill>
          <a:blip r:embed="rId3"/>
          <a:stretch/>
        </p:blipFill>
        <p:spPr>
          <a:xfrm>
            <a:off x="3390840" y="2221560"/>
            <a:ext cx="2588040" cy="3135600"/>
          </a:xfrm>
          <a:prstGeom prst="rect">
            <a:avLst/>
          </a:prstGeom>
          <a:ln>
            <a:noFill/>
          </a:ln>
        </p:spPr>
      </p:pic>
      <p:pic>
        <p:nvPicPr>
          <p:cNvPr id="90" name="Picture 4" descr="image.png"/>
          <p:cNvPicPr/>
          <p:nvPr/>
        </p:nvPicPr>
        <p:blipFill>
          <a:blip r:embed="rId4"/>
          <a:stretch/>
        </p:blipFill>
        <p:spPr>
          <a:xfrm>
            <a:off x="6210360" y="2221560"/>
            <a:ext cx="2588040" cy="3135600"/>
          </a:xfrm>
          <a:prstGeom prst="rect">
            <a:avLst/>
          </a:prstGeom>
          <a:ln>
            <a:noFill/>
          </a:ln>
        </p:spPr>
      </p:pic>
      <p:pic>
        <p:nvPicPr>
          <p:cNvPr id="91" name="Picture 5" descr="image.png"/>
          <p:cNvPicPr/>
          <p:nvPr/>
        </p:nvPicPr>
        <p:blipFill>
          <a:blip r:embed="rId5"/>
          <a:stretch/>
        </p:blipFill>
        <p:spPr>
          <a:xfrm>
            <a:off x="9029880" y="2221560"/>
            <a:ext cx="2588040" cy="3135600"/>
          </a:xfrm>
          <a:prstGeom prst="rect">
            <a:avLst/>
          </a:prstGeom>
          <a:ln>
            <a:noFill/>
          </a:ln>
        </p:spPr>
      </p:pic>
      <p:pic>
        <p:nvPicPr>
          <p:cNvPr id="92" name="Picture 6" descr="image.png"/>
          <p:cNvPicPr/>
          <p:nvPr/>
        </p:nvPicPr>
        <p:blipFill>
          <a:blip r:embed="rId6"/>
          <a:stretch/>
        </p:blipFill>
        <p:spPr>
          <a:xfrm>
            <a:off x="828720" y="2478960"/>
            <a:ext cx="492480" cy="492480"/>
          </a:xfrm>
          <a:prstGeom prst="rect">
            <a:avLst/>
          </a:prstGeom>
          <a:ln>
            <a:noFill/>
          </a:ln>
        </p:spPr>
      </p:pic>
      <p:sp>
        <p:nvSpPr>
          <p:cNvPr id="93" name="CustomShape 1"/>
          <p:cNvSpPr/>
          <p:nvPr/>
        </p:nvSpPr>
        <p:spPr>
          <a:xfrm>
            <a:off x="828720" y="3145680"/>
            <a:ext cx="2177280" cy="43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3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OpenAI / ChatGPT / Codex</a:t>
            </a:r>
            <a:endParaRPr b="0" lang="es-ES" sz="143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828720" y="3642120"/>
            <a:ext cx="2073600" cy="145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Pioneros comerciales. Destacan por modelos de razonamiento (familia o1/GPT-4o) con amplia integración en plugins y herramientas de desarrollo.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95" name="Picture 9" descr="image.png"/>
          <p:cNvPicPr/>
          <p:nvPr/>
        </p:nvPicPr>
        <p:blipFill>
          <a:blip r:embed="rId7"/>
          <a:stretch/>
        </p:blipFill>
        <p:spPr>
          <a:xfrm>
            <a:off x="3648240" y="2478960"/>
            <a:ext cx="492480" cy="492480"/>
          </a:xfrm>
          <a:prstGeom prst="rect">
            <a:avLst/>
          </a:prstGeom>
          <a:ln>
            <a:noFill/>
          </a:ln>
        </p:spPr>
      </p:pic>
      <p:sp>
        <p:nvSpPr>
          <p:cNvPr id="96" name="CustomShape 3"/>
          <p:cNvSpPr/>
          <p:nvPr/>
        </p:nvSpPr>
        <p:spPr>
          <a:xfrm>
            <a:off x="3648240" y="3145680"/>
            <a:ext cx="2177280" cy="43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3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Anthropic / Claude / Claude Code</a:t>
            </a:r>
            <a:endParaRPr b="0" lang="es-ES" sz="1430" spc="-1" strike="noStrike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3648240" y="3642120"/>
            <a:ext cx="2073600" cy="145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Referentes mundiales en generación de código estructurado, comprensión lógica rigurosa y creadores del estándar abierto MCP (Model Context Protocol).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98" name="Picture 12" descr="image.png"/>
          <p:cNvPicPr/>
          <p:nvPr/>
        </p:nvPicPr>
        <p:blipFill>
          <a:blip r:embed="rId8"/>
          <a:stretch/>
        </p:blipFill>
        <p:spPr>
          <a:xfrm>
            <a:off x="6467400" y="2478960"/>
            <a:ext cx="492480" cy="492480"/>
          </a:xfrm>
          <a:prstGeom prst="rect">
            <a:avLst/>
          </a:prstGeom>
          <a:ln>
            <a:noFill/>
          </a:ln>
        </p:spPr>
      </p:pic>
      <p:sp>
        <p:nvSpPr>
          <p:cNvPr id="99" name="CustomShape 5"/>
          <p:cNvSpPr/>
          <p:nvPr/>
        </p:nvSpPr>
        <p:spPr>
          <a:xfrm>
            <a:off x="6467400" y="3145680"/>
            <a:ext cx="2177280" cy="43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3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Google / Gemini / Antigravity</a:t>
            </a:r>
            <a:endParaRPr b="0" lang="es-ES" sz="1430" spc="-1" strike="noStrike">
              <a:latin typeface="Arial"/>
            </a:endParaRPr>
          </a:p>
        </p:txBody>
      </p:sp>
      <p:sp>
        <p:nvSpPr>
          <p:cNvPr id="100" name="CustomShape 6"/>
          <p:cNvSpPr/>
          <p:nvPr/>
        </p:nvSpPr>
        <p:spPr>
          <a:xfrm>
            <a:off x="6467400" y="3642120"/>
            <a:ext cx="2073600" cy="145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Líder en ventanas de contexto masivas (hasta 2M tokens) y procesamiento nativo multimodal (código, vídeo en directo, esquemas técnicos y audio).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101" name="Picture 15" descr="image.png"/>
          <p:cNvPicPr/>
          <p:nvPr/>
        </p:nvPicPr>
        <p:blipFill>
          <a:blip r:embed="rId9"/>
          <a:stretch/>
        </p:blipFill>
        <p:spPr>
          <a:xfrm>
            <a:off x="9286920" y="2478960"/>
            <a:ext cx="492480" cy="492480"/>
          </a:xfrm>
          <a:prstGeom prst="rect">
            <a:avLst/>
          </a:prstGeom>
          <a:ln>
            <a:noFill/>
          </a:ln>
        </p:spPr>
      </p:pic>
      <p:sp>
        <p:nvSpPr>
          <p:cNvPr id="102" name="CustomShape 7"/>
          <p:cNvSpPr/>
          <p:nvPr/>
        </p:nvSpPr>
        <p:spPr>
          <a:xfrm>
            <a:off x="9286920" y="3145680"/>
            <a:ext cx="2177280" cy="21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43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Ollama &amp; Open Weight</a:t>
            </a:r>
            <a:endParaRPr b="0" lang="es-ES" sz="1430" spc="-1" strike="noStrike"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9286920" y="3774240"/>
            <a:ext cx="2073600" cy="121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Motor de ejecución local por excelencia. Ejecuta modelos libres como Llama 3 (Meta), Qwen y DeepSeek de forma offline y con API compatible.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104" name="Picture 18" descr="image.png"/>
          <p:cNvPicPr/>
          <p:nvPr/>
        </p:nvPicPr>
        <p:blipFill>
          <a:blip r:embed="rId10"/>
          <a:stretch/>
        </p:blipFill>
        <p:spPr>
          <a:xfrm>
            <a:off x="966960" y="2602800"/>
            <a:ext cx="216360" cy="244800"/>
          </a:xfrm>
          <a:prstGeom prst="rect">
            <a:avLst/>
          </a:prstGeom>
          <a:ln>
            <a:noFill/>
          </a:ln>
        </p:spPr>
      </p:pic>
      <p:pic>
        <p:nvPicPr>
          <p:cNvPr id="105" name="Picture 19" descr="image.png"/>
          <p:cNvPicPr/>
          <p:nvPr/>
        </p:nvPicPr>
        <p:blipFill>
          <a:blip r:embed="rId11"/>
          <a:stretch/>
        </p:blipFill>
        <p:spPr>
          <a:xfrm>
            <a:off x="3772080" y="2602800"/>
            <a:ext cx="244800" cy="244800"/>
          </a:xfrm>
          <a:prstGeom prst="rect">
            <a:avLst/>
          </a:prstGeom>
          <a:ln>
            <a:noFill/>
          </a:ln>
        </p:spPr>
      </p:pic>
      <p:pic>
        <p:nvPicPr>
          <p:cNvPr id="106" name="Picture 20" descr="image.png"/>
          <p:cNvPicPr/>
          <p:nvPr/>
        </p:nvPicPr>
        <p:blipFill>
          <a:blip r:embed="rId12"/>
          <a:stretch/>
        </p:blipFill>
        <p:spPr>
          <a:xfrm>
            <a:off x="6591240" y="2602800"/>
            <a:ext cx="244800" cy="244800"/>
          </a:xfrm>
          <a:prstGeom prst="rect">
            <a:avLst/>
          </a:prstGeom>
          <a:ln>
            <a:noFill/>
          </a:ln>
        </p:spPr>
      </p:pic>
      <p:pic>
        <p:nvPicPr>
          <p:cNvPr id="107" name="Picture 21" descr="image.png"/>
          <p:cNvPicPr/>
          <p:nvPr/>
        </p:nvPicPr>
        <p:blipFill>
          <a:blip r:embed="rId13"/>
          <a:stretch/>
        </p:blipFill>
        <p:spPr>
          <a:xfrm>
            <a:off x="9377280" y="2602800"/>
            <a:ext cx="311400" cy="244800"/>
          </a:xfrm>
          <a:prstGeom prst="rect">
            <a:avLst/>
          </a:prstGeom>
          <a:ln>
            <a:noFill/>
          </a:ln>
        </p:spPr>
      </p:pic>
      <p:sp>
        <p:nvSpPr>
          <p:cNvPr id="108" name="CustomShape 9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Ecosistema LLM: Remoto y Local</a:t>
            </a:r>
            <a:endParaRPr b="0" lang="es-E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110" name="Picture 2" descr="image.png"/>
          <p:cNvPicPr/>
          <p:nvPr/>
        </p:nvPicPr>
        <p:blipFill>
          <a:blip r:embed="rId2"/>
          <a:stretch/>
        </p:blipFill>
        <p:spPr>
          <a:xfrm>
            <a:off x="571680" y="1976400"/>
            <a:ext cx="5331240" cy="3626280"/>
          </a:xfrm>
          <a:prstGeom prst="rect">
            <a:avLst/>
          </a:prstGeom>
          <a:ln>
            <a:noFill/>
          </a:ln>
        </p:spPr>
      </p:pic>
      <p:pic>
        <p:nvPicPr>
          <p:cNvPr id="111" name="Picture 3" descr="image.png"/>
          <p:cNvPicPr/>
          <p:nvPr/>
        </p:nvPicPr>
        <p:blipFill>
          <a:blip r:embed="rId3"/>
          <a:stretch/>
        </p:blipFill>
        <p:spPr>
          <a:xfrm>
            <a:off x="6286680" y="1976400"/>
            <a:ext cx="5331240" cy="3626280"/>
          </a:xfrm>
          <a:prstGeom prst="rect">
            <a:avLst/>
          </a:prstGeom>
          <a:ln>
            <a:noFill/>
          </a:ln>
        </p:spPr>
      </p:pic>
      <p:pic>
        <p:nvPicPr>
          <p:cNvPr id="112" name="Picture 4" descr="image.png"/>
          <p:cNvPicPr/>
          <p:nvPr/>
        </p:nvPicPr>
        <p:blipFill>
          <a:blip r:embed="rId4"/>
          <a:stretch/>
        </p:blipFill>
        <p:spPr>
          <a:xfrm>
            <a:off x="866880" y="2281320"/>
            <a:ext cx="892440" cy="197280"/>
          </a:xfrm>
          <a:prstGeom prst="rect">
            <a:avLst/>
          </a:prstGeom>
          <a:ln>
            <a:noFill/>
          </a:ln>
        </p:spPr>
      </p:pic>
      <p:sp>
        <p:nvSpPr>
          <p:cNvPr id="113" name="CustomShape 1"/>
          <p:cNvSpPr/>
          <p:nvPr/>
        </p:nvSpPr>
        <p:spPr>
          <a:xfrm>
            <a:off x="866880" y="2595600"/>
            <a:ext cx="4977720" cy="25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6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Ollama + TUIs / IDE</a:t>
            </a:r>
            <a:endParaRPr b="0" lang="es-ES" sz="1650" spc="-1" strike="noStrike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866880" y="3005280"/>
            <a:ext cx="47404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Configuración: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Instalar Ollama y descargar modelos como llama3:8b o qwen2.5-coder.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15" name="CustomShape 3"/>
          <p:cNvSpPr/>
          <p:nvPr/>
        </p:nvSpPr>
        <p:spPr>
          <a:xfrm>
            <a:off x="866880" y="3614760"/>
            <a:ext cx="47404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Conexión con Claude Code / TUI: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Enrutamiento del endpoint local cambiando la variable de entorno de API base a localhost:11434.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16" name="CustomShape 4"/>
          <p:cNvSpPr/>
          <p:nvPr/>
        </p:nvSpPr>
        <p:spPr>
          <a:xfrm>
            <a:off x="866880" y="4467240"/>
            <a:ext cx="4740480" cy="72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Requisitos de Hardware: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Exige al menos 16 GB de RAM unificada en Apple Silicon o GPU NVIDIA RTX serie 4000 de 8GB-12GB VRAM para respuesta fluida.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117" name="Picture 9" descr="image.png"/>
          <p:cNvPicPr/>
          <p:nvPr/>
        </p:nvPicPr>
        <p:blipFill>
          <a:blip r:embed="rId5"/>
          <a:stretch/>
        </p:blipFill>
        <p:spPr>
          <a:xfrm>
            <a:off x="6581880" y="2281320"/>
            <a:ext cx="1073520" cy="197280"/>
          </a:xfrm>
          <a:prstGeom prst="rect">
            <a:avLst/>
          </a:prstGeom>
          <a:ln>
            <a:noFill/>
          </a:ln>
        </p:spPr>
      </p:pic>
      <p:sp>
        <p:nvSpPr>
          <p:cNvPr id="118" name="CustomShape 5"/>
          <p:cNvSpPr/>
          <p:nvPr/>
        </p:nvSpPr>
        <p:spPr>
          <a:xfrm>
            <a:off x="6581880" y="2595600"/>
            <a:ext cx="4977720" cy="25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6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Cline, OpenRouter y Free Tiers</a:t>
            </a:r>
            <a:endParaRPr b="0" lang="es-ES" sz="1650" spc="-1" strike="noStrike">
              <a:latin typeface="Arial"/>
            </a:endParaRPr>
          </a:p>
        </p:txBody>
      </p:sp>
      <p:sp>
        <p:nvSpPr>
          <p:cNvPr id="119" name="CustomShape 6"/>
          <p:cNvSpPr/>
          <p:nvPr/>
        </p:nvSpPr>
        <p:spPr>
          <a:xfrm>
            <a:off x="6581880" y="3005280"/>
            <a:ext cx="4740480" cy="72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Cline (Extensión VS Code):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Extensión agéntica dentro del editor que lee el workspace, genera archivos y ejecuta la terminal con aprobación humana previa.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20" name="CustomShape 7"/>
          <p:cNvSpPr/>
          <p:nvPr/>
        </p:nvSpPr>
        <p:spPr>
          <a:xfrm>
            <a:off x="6581880" y="3848040"/>
            <a:ext cx="47404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OpenRouter &amp; NVIDIA NIM: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Capas gratuitas temporales que ofrecen acceso a modelos punteros sin pagar suscripciones fijas.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21" name="CustomShape 8"/>
          <p:cNvSpPr/>
          <p:nvPr/>
        </p:nvSpPr>
        <p:spPr>
          <a:xfrm>
            <a:off x="6581880" y="4448160"/>
            <a:ext cx="4740480" cy="72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Estrategia Estudiantil: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Desarrollar la arquitectura con APIs remotas de alta potencia y delegar refactorizaciones locales a Ollama.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22" name="CustomShape 9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Alternativas de Ejecución para Alumnos</a:t>
            </a:r>
            <a:endParaRPr b="0" lang="es-E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24" name="CustomShape 1"/>
          <p:cNvSpPr/>
          <p:nvPr/>
        </p:nvSpPr>
        <p:spPr>
          <a:xfrm>
            <a:off x="5715000" y="2662200"/>
            <a:ext cx="759240" cy="3528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CustomShape 2"/>
          <p:cNvSpPr/>
          <p:nvPr/>
        </p:nvSpPr>
        <p:spPr>
          <a:xfrm>
            <a:off x="1445400" y="2890800"/>
            <a:ext cx="9298440" cy="105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3450" spc="-1" strike="noStrike">
                <a:solidFill>
                  <a:srgbClr val="0f172a"/>
                </a:solidFill>
                <a:latin typeface="Poppins"/>
                <a:ea typeface="DejaVu Sans"/>
              </a:rPr>
              <a:t>De Copiar Código a Sistemas Agénticos</a:t>
            </a:r>
            <a:endParaRPr b="0" lang="es-ES" sz="3450" spc="-1" strike="noStrike">
              <a:latin typeface="Arial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2523960" y="3952440"/>
            <a:ext cx="7140960" cy="57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2251"/>
              </a:lnSpc>
            </a:pPr>
            <a:r>
              <a:rPr b="0" lang="en-US" sz="1500" spc="-1" strike="noStrike">
                <a:solidFill>
                  <a:srgbClr val="475569"/>
                </a:solidFill>
                <a:latin typeface="Lato"/>
                <a:ea typeface="DejaVu Sans"/>
              </a:rPr>
              <a:t>Cómo los ingenieros han pasado de consultar respuestas en un navegador a coordinar agentes de software autónomos en terminal.</a:t>
            </a:r>
            <a:endParaRPr b="0" lang="es-E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360000" y="288000"/>
            <a:ext cx="11518200" cy="6481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29" name="CustomShape 1"/>
          <p:cNvSpPr/>
          <p:nvPr/>
        </p:nvSpPr>
        <p:spPr>
          <a:xfrm>
            <a:off x="1295280" y="2552760"/>
            <a:ext cx="103222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Fase 1 · VibeCoding en Chatbox: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Copiar y pegar fragmentos entre la interfaz web (ChatGPT/Claude/Gemini) y el editor. Método propenso a alucinaciones de contexto y pérdida de dependencias.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1295280" y="3209760"/>
            <a:ext cx="103222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Fase 2 · Agentes de IA &amp; TUIs (Terminal User Interfaces):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Herramientas como Claude Code, Codex y Antigravity que viven en tu consola. Leen el árbol de archivos, ejecutan tests, corrigen errores y usan herramientas externas.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1295280" y="3867120"/>
            <a:ext cx="103222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Fase 3 · Protocolos MCP y Skills: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Los agentes se comunican con hardware, bases de datos o depuradores locales mediante estándares abiertos (Model Context Protocol), actuando sobre el entorno de trabajo real.</a:t>
            </a:r>
            <a:endParaRPr b="0" lang="es-ES" sz="1280" spc="-1" strike="noStrike"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1295280" y="4524480"/>
            <a:ext cx="103222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Fase 4 · Spec-Driven Design (SDD):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Especificación formal mediante archivos Markdown que definen ciclo de vida, restricciones y checklists. El agente opera con validación continua en lugar de prompts dispersos.</a:t>
            </a:r>
            <a:endParaRPr b="0" lang="es-ES" sz="1280" spc="-1" strike="noStrike">
              <a:latin typeface="Arial"/>
            </a:endParaRPr>
          </a:p>
        </p:txBody>
      </p:sp>
      <p:pic>
        <p:nvPicPr>
          <p:cNvPr id="133" name="Picture 6" descr="image.png"/>
          <p:cNvPicPr/>
          <p:nvPr/>
        </p:nvPicPr>
        <p:blipFill>
          <a:blip r:embed="rId2"/>
          <a:stretch/>
        </p:blipFill>
        <p:spPr>
          <a:xfrm>
            <a:off x="952560" y="2585880"/>
            <a:ext cx="187560" cy="197280"/>
          </a:xfrm>
          <a:prstGeom prst="rect">
            <a:avLst/>
          </a:prstGeom>
          <a:ln>
            <a:noFill/>
          </a:ln>
        </p:spPr>
      </p:pic>
      <p:pic>
        <p:nvPicPr>
          <p:cNvPr id="134" name="Picture 7" descr="image.png"/>
          <p:cNvPicPr/>
          <p:nvPr/>
        </p:nvPicPr>
        <p:blipFill>
          <a:blip r:embed="rId3"/>
          <a:stretch/>
        </p:blipFill>
        <p:spPr>
          <a:xfrm>
            <a:off x="952560" y="3243240"/>
            <a:ext cx="235080" cy="197280"/>
          </a:xfrm>
          <a:prstGeom prst="rect">
            <a:avLst/>
          </a:prstGeom>
          <a:ln>
            <a:noFill/>
          </a:ln>
        </p:spPr>
      </p:pic>
      <p:pic>
        <p:nvPicPr>
          <p:cNvPr id="135" name="Picture 8" descr="image.png"/>
          <p:cNvPicPr/>
          <p:nvPr/>
        </p:nvPicPr>
        <p:blipFill>
          <a:blip r:embed="rId4"/>
          <a:stretch/>
        </p:blipFill>
        <p:spPr>
          <a:xfrm>
            <a:off x="952560" y="3900600"/>
            <a:ext cx="140040" cy="197280"/>
          </a:xfrm>
          <a:prstGeom prst="rect">
            <a:avLst/>
          </a:prstGeom>
          <a:ln>
            <a:noFill/>
          </a:ln>
        </p:spPr>
      </p:pic>
      <p:pic>
        <p:nvPicPr>
          <p:cNvPr id="136" name="Picture 9" descr="image.png"/>
          <p:cNvPicPr/>
          <p:nvPr/>
        </p:nvPicPr>
        <p:blipFill>
          <a:blip r:embed="rId5"/>
          <a:stretch/>
        </p:blipFill>
        <p:spPr>
          <a:xfrm>
            <a:off x="952560" y="4557600"/>
            <a:ext cx="187560" cy="197280"/>
          </a:xfrm>
          <a:prstGeom prst="rect">
            <a:avLst/>
          </a:prstGeom>
          <a:ln>
            <a:noFill/>
          </a:ln>
        </p:spPr>
      </p:pic>
      <p:sp>
        <p:nvSpPr>
          <p:cNvPr id="137" name="CustomShape 5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Evolución Dev: Del Chatbox a SDD</a:t>
            </a:r>
            <a:endParaRPr b="0" lang="es-ES" sz="25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_0" descr="image.png"/>
          <p:cNvPicPr/>
          <p:nvPr/>
        </p:nvPicPr>
        <p:blipFill>
          <a:blip r:embed="rId1"/>
          <a:stretch/>
        </p:blipFill>
        <p:spPr>
          <a:xfrm>
            <a:off x="5592600" y="316800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39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Algunos conceptos en la programación agéntica I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1046880" y="1155960"/>
            <a:ext cx="9752040" cy="5322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_2" descr="image.png"/>
          <p:cNvPicPr/>
          <p:nvPr/>
        </p:nvPicPr>
        <p:blipFill>
          <a:blip r:embed="rId1"/>
          <a:stretch/>
        </p:blipFill>
        <p:spPr>
          <a:xfrm>
            <a:off x="5592600" y="316800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42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Algunos conceptos en la programación agéntica I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576000" y="2184120"/>
            <a:ext cx="11302920" cy="2566800"/>
          </a:xfrm>
          <a:prstGeom prst="rect">
            <a:avLst/>
          </a:prstGeom>
          <a:ln>
            <a:noFill/>
          </a:ln>
        </p:spPr>
      </p:pic>
      <p:sp>
        <p:nvSpPr>
          <p:cNvPr id="144" name="CustomShape 2"/>
          <p:cNvSpPr/>
          <p:nvPr/>
        </p:nvSpPr>
        <p:spPr>
          <a:xfrm>
            <a:off x="586080" y="1152000"/>
            <a:ext cx="112924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Como se ve el contexto desde el </a:t>
            </a: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agente antigravity</a:t>
            </a:r>
            <a:endParaRPr b="0" lang="es-ES" sz="12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1_3" descr="image.png"/>
          <p:cNvPicPr/>
          <p:nvPr/>
        </p:nvPicPr>
        <p:blipFill>
          <a:blip r:embed="rId1"/>
          <a:stretch/>
        </p:blipFill>
        <p:spPr>
          <a:xfrm>
            <a:off x="5592600" y="316800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46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Algunos conceptos en la programación agéntica II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1080000" y="1080000"/>
            <a:ext cx="9752040" cy="5322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_6" descr="image.png"/>
          <p:cNvPicPr/>
          <p:nvPr/>
        </p:nvPicPr>
        <p:blipFill>
          <a:blip r:embed="rId1"/>
          <a:stretch/>
        </p:blipFill>
        <p:spPr>
          <a:xfrm>
            <a:off x="5592600" y="316800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49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Gemini para estudiantes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2"/>
          <a:stretch/>
        </p:blipFill>
        <p:spPr>
          <a:xfrm>
            <a:off x="1678320" y="1190880"/>
            <a:ext cx="8833320" cy="5000760"/>
          </a:xfrm>
          <a:prstGeom prst="rect">
            <a:avLst/>
          </a:prstGeom>
          <a:ln>
            <a:noFill/>
          </a:ln>
        </p:spPr>
      </p:pic>
      <p:sp>
        <p:nvSpPr>
          <p:cNvPr id="151" name="CustomShape 2"/>
          <p:cNvSpPr/>
          <p:nvPr/>
        </p:nvSpPr>
        <p:spPr>
          <a:xfrm>
            <a:off x="2520000" y="6322320"/>
            <a:ext cx="7559640" cy="37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1" lang="es-ES" sz="2000" spc="-1" strike="noStrike" u="sng">
                <a:solidFill>
                  <a:srgbClr val="0000ff"/>
                </a:solidFill>
                <a:uFillTx/>
                <a:latin typeface="Arial"/>
                <a:hlinkClick r:id="rId3"/>
              </a:rPr>
              <a:t>https://gemini.google/es/students/?hl=es</a:t>
            </a:r>
            <a:endParaRPr b="0" lang="es-E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53" name="CustomShape 1"/>
          <p:cNvSpPr/>
          <p:nvPr/>
        </p:nvSpPr>
        <p:spPr>
          <a:xfrm>
            <a:off x="571680" y="476280"/>
            <a:ext cx="5598000" cy="77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Antigravity y Desarrollo Autónomo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54" name="Picture 3" descr="image.png"/>
          <p:cNvPicPr/>
          <p:nvPr/>
        </p:nvPicPr>
        <p:blipFill>
          <a:blip r:embed="rId2"/>
          <a:stretch/>
        </p:blipFill>
        <p:spPr>
          <a:xfrm>
            <a:off x="6286680" y="0"/>
            <a:ext cx="5902560" cy="6855120"/>
          </a:xfrm>
          <a:prstGeom prst="rect">
            <a:avLst/>
          </a:prstGeom>
          <a:ln>
            <a:noFill/>
          </a:ln>
        </p:spPr>
      </p:pic>
      <p:sp>
        <p:nvSpPr>
          <p:cNvPr id="155" name="CustomShape 2"/>
          <p:cNvSpPr/>
          <p:nvPr/>
        </p:nvSpPr>
        <p:spPr>
          <a:xfrm>
            <a:off x="571680" y="3143160"/>
            <a:ext cx="5598000" cy="25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6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El Entorno Agéntico de Gemini</a:t>
            </a:r>
            <a:endParaRPr b="0" lang="es-ES" sz="1650" spc="-1" strike="noStrike">
              <a:latin typeface="Arial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571680" y="3552840"/>
            <a:ext cx="533124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  <a:ea typeface="DejaVu Sans"/>
              </a:rPr>
              <a:t>Antigravity es el entorno CLI/TUI para interactuar con Gemini Pro. Cuenta con versión de escritorio visual y una SDK modular para crear agentes conectados.</a:t>
            </a:r>
            <a:endParaRPr b="0" lang="es-ES" sz="1200" spc="-1" strike="noStrike"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571680" y="4124160"/>
            <a:ext cx="53312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800"/>
              </a:lnSpc>
            </a:pPr>
            <a:r>
              <a:rPr b="0" lang="en-US" sz="1200" spc="-1" strike="noStrike">
                <a:solidFill>
                  <a:srgbClr val="334155"/>
                </a:solidFill>
                <a:latin typeface="Lato"/>
                <a:ea typeface="DejaVu Sans"/>
              </a:rPr>
              <a:t>Google ofrece ventajas y precios reducidos a universitarios. Permite generar proyectos enteros desde especificaciones con ejecución autónoma de comandos seguros.</a:t>
            </a:r>
            <a:endParaRPr b="0" lang="es-E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pic>
        <p:nvPicPr>
          <p:cNvPr id="159" name="Picture 2" descr="image.png"/>
          <p:cNvPicPr/>
          <p:nvPr/>
        </p:nvPicPr>
        <p:blipFill>
          <a:blip r:embed="rId2"/>
          <a:stretch/>
        </p:blipFill>
        <p:spPr>
          <a:xfrm>
            <a:off x="571680" y="2126880"/>
            <a:ext cx="3527640" cy="3324960"/>
          </a:xfrm>
          <a:prstGeom prst="rect">
            <a:avLst/>
          </a:prstGeom>
          <a:ln>
            <a:noFill/>
          </a:ln>
        </p:spPr>
      </p:pic>
      <p:pic>
        <p:nvPicPr>
          <p:cNvPr id="160" name="Picture 3" descr="image.png"/>
          <p:cNvPicPr/>
          <p:nvPr/>
        </p:nvPicPr>
        <p:blipFill>
          <a:blip r:embed="rId3"/>
          <a:stretch/>
        </p:blipFill>
        <p:spPr>
          <a:xfrm>
            <a:off x="4330800" y="2126880"/>
            <a:ext cx="3527640" cy="3324960"/>
          </a:xfrm>
          <a:prstGeom prst="rect">
            <a:avLst/>
          </a:prstGeom>
          <a:ln>
            <a:noFill/>
          </a:ln>
        </p:spPr>
      </p:pic>
      <p:pic>
        <p:nvPicPr>
          <p:cNvPr id="161" name="Picture 4" descr="image.png"/>
          <p:cNvPicPr/>
          <p:nvPr/>
        </p:nvPicPr>
        <p:blipFill>
          <a:blip r:embed="rId4"/>
          <a:stretch/>
        </p:blipFill>
        <p:spPr>
          <a:xfrm>
            <a:off x="8089920" y="2126880"/>
            <a:ext cx="3527640" cy="3324960"/>
          </a:xfrm>
          <a:prstGeom prst="rect">
            <a:avLst/>
          </a:prstGeom>
          <a:ln>
            <a:noFill/>
          </a:ln>
        </p:spPr>
      </p:pic>
      <p:pic>
        <p:nvPicPr>
          <p:cNvPr id="162" name="Picture 5" descr="image.png"/>
          <p:cNvPicPr/>
          <p:nvPr/>
        </p:nvPicPr>
        <p:blipFill>
          <a:blip r:embed="rId5"/>
          <a:stretch/>
        </p:blipFill>
        <p:spPr>
          <a:xfrm>
            <a:off x="733320" y="2288880"/>
            <a:ext cx="3204000" cy="1806840"/>
          </a:xfrm>
          <a:prstGeom prst="rect">
            <a:avLst/>
          </a:prstGeom>
          <a:ln>
            <a:noFill/>
          </a:ln>
        </p:spPr>
      </p:pic>
      <p:pic>
        <p:nvPicPr>
          <p:cNvPr id="163" name="Picture 6" descr="image.png"/>
          <p:cNvPicPr/>
          <p:nvPr/>
        </p:nvPicPr>
        <p:blipFill>
          <a:blip r:embed="rId6"/>
          <a:stretch/>
        </p:blipFill>
        <p:spPr>
          <a:xfrm>
            <a:off x="4492800" y="2288880"/>
            <a:ext cx="3204000" cy="1806840"/>
          </a:xfrm>
          <a:prstGeom prst="rect">
            <a:avLst/>
          </a:prstGeom>
          <a:ln>
            <a:noFill/>
          </a:ln>
        </p:spPr>
      </p:pic>
      <p:pic>
        <p:nvPicPr>
          <p:cNvPr id="164" name="Picture 7" descr="image.png"/>
          <p:cNvPicPr/>
          <p:nvPr/>
        </p:nvPicPr>
        <p:blipFill>
          <a:blip r:embed="rId7"/>
          <a:stretch/>
        </p:blipFill>
        <p:spPr>
          <a:xfrm>
            <a:off x="8251920" y="2288880"/>
            <a:ext cx="3204000" cy="1806840"/>
          </a:xfrm>
          <a:prstGeom prst="rect">
            <a:avLst/>
          </a:prstGeom>
          <a:ln>
            <a:noFill/>
          </a:ln>
        </p:spPr>
      </p:pic>
      <p:sp>
        <p:nvSpPr>
          <p:cNvPr id="165" name="CustomShape 1"/>
          <p:cNvSpPr/>
          <p:nvPr/>
        </p:nvSpPr>
        <p:spPr>
          <a:xfrm>
            <a:off x="733320" y="4232160"/>
            <a:ext cx="336420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PoC 1 · Senoide en Python</a:t>
            </a:r>
            <a:endParaRPr b="0" lang="es-ES" sz="1350" spc="-1" strike="noStrike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733320" y="4546440"/>
            <a:ext cx="3204000" cy="74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471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  <a:ea typeface="DejaVu Sans"/>
              </a:rPr>
              <a:t>Prompt rápido en TUI Antigravity para crear un script con NumPy y Matplotlib: parámetros interactivos de frecuencia, amplitud y diseño cromático en tiempo real.</a:t>
            </a:r>
            <a:endParaRPr b="0" lang="es-ES" sz="1050" spc="-1" strike="noStrike">
              <a:latin typeface="Arial"/>
            </a:endParaRPr>
          </a:p>
        </p:txBody>
      </p:sp>
      <p:sp>
        <p:nvSpPr>
          <p:cNvPr id="167" name="CustomShape 3"/>
          <p:cNvSpPr/>
          <p:nvPr/>
        </p:nvSpPr>
        <p:spPr>
          <a:xfrm>
            <a:off x="4492800" y="4232160"/>
            <a:ext cx="336420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PoC 2 · Microservicio FastAPI</a:t>
            </a:r>
            <a:endParaRPr b="0" lang="es-ES" sz="1350" spc="-1" strike="noStrike">
              <a:latin typeface="Arial"/>
            </a:endParaRPr>
          </a:p>
        </p:txBody>
      </p:sp>
      <p:sp>
        <p:nvSpPr>
          <p:cNvPr id="168" name="CustomShape 4"/>
          <p:cNvSpPr/>
          <p:nvPr/>
        </p:nvSpPr>
        <p:spPr>
          <a:xfrm>
            <a:off x="4492800" y="4546440"/>
            <a:ext cx="3204000" cy="74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471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  <a:ea typeface="DejaVu Sans"/>
              </a:rPr>
              <a:t>Generación de un endpoint REST backend. Recibe el nombre del usuario y devuelve JSON estructurado con validación de tipos Pydantic y documentación Swagger automática.</a:t>
            </a:r>
            <a:endParaRPr b="0" lang="es-ES" sz="1050" spc="-1" strike="noStrike">
              <a:latin typeface="Arial"/>
            </a:endParaRPr>
          </a:p>
        </p:txBody>
      </p:sp>
      <p:sp>
        <p:nvSpPr>
          <p:cNvPr id="169" name="CustomShape 5"/>
          <p:cNvSpPr/>
          <p:nvPr/>
        </p:nvSpPr>
        <p:spPr>
          <a:xfrm>
            <a:off x="8251920" y="4232160"/>
            <a:ext cx="3364200" cy="20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0369a1"/>
                </a:solidFill>
                <a:latin typeface="Poppins SemiBold"/>
                <a:ea typeface="DejaVu Sans"/>
              </a:rPr>
              <a:t>PoC 3 · Cinemática MATLAB</a:t>
            </a:r>
            <a:endParaRPr b="0" lang="es-ES" sz="1350" spc="-1" strike="noStrike">
              <a:latin typeface="Arial"/>
            </a:endParaRPr>
          </a:p>
        </p:txBody>
      </p:sp>
      <p:sp>
        <p:nvSpPr>
          <p:cNvPr id="170" name="CustomShape 6"/>
          <p:cNvSpPr/>
          <p:nvPr/>
        </p:nvSpPr>
        <p:spPr>
          <a:xfrm>
            <a:off x="8251920" y="4546440"/>
            <a:ext cx="3204000" cy="74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471"/>
              </a:lnSpc>
            </a:pPr>
            <a:r>
              <a:rPr b="0" lang="en-US" sz="1050" spc="-1" strike="noStrike">
                <a:solidFill>
                  <a:srgbClr val="334155"/>
                </a:solidFill>
                <a:latin typeface="Lato"/>
                <a:ea typeface="DejaVu Sans"/>
              </a:rPr>
              <a:t>Utilizar la herramienta de matlab para generar la senoide de la PoC 1, pero en este caso através del motor de Matlab y Python. Los scripts serán utilizando el lenguaje de matlab</a:t>
            </a:r>
            <a:endParaRPr b="0" lang="es-ES" sz="1050" spc="-1" strike="noStrike">
              <a:latin typeface="Arial"/>
            </a:endParaRPr>
          </a:p>
        </p:txBody>
      </p:sp>
      <p:pic>
        <p:nvPicPr>
          <p:cNvPr id="171" name="Picture 14" descr="image.png"/>
          <p:cNvPicPr/>
          <p:nvPr/>
        </p:nvPicPr>
        <p:blipFill>
          <a:blip r:embed="rId8"/>
          <a:stretch/>
        </p:blipFill>
        <p:spPr>
          <a:xfrm>
            <a:off x="733320" y="2288880"/>
            <a:ext cx="3204000" cy="1806840"/>
          </a:xfrm>
          <a:prstGeom prst="rect">
            <a:avLst/>
          </a:prstGeom>
          <a:ln>
            <a:noFill/>
          </a:ln>
        </p:spPr>
      </p:pic>
      <p:pic>
        <p:nvPicPr>
          <p:cNvPr id="172" name="Picture 15" descr="image.png"/>
          <p:cNvPicPr/>
          <p:nvPr/>
        </p:nvPicPr>
        <p:blipFill>
          <a:blip r:embed="rId9"/>
          <a:stretch/>
        </p:blipFill>
        <p:spPr>
          <a:xfrm>
            <a:off x="4492800" y="2288880"/>
            <a:ext cx="3204000" cy="1806840"/>
          </a:xfrm>
          <a:prstGeom prst="rect">
            <a:avLst/>
          </a:prstGeom>
          <a:ln>
            <a:noFill/>
          </a:ln>
        </p:spPr>
      </p:pic>
      <p:sp>
        <p:nvSpPr>
          <p:cNvPr id="173" name="CustomShape 7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Pruebas de Concepto en el Taller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74" name="Picture 14_0" descr="image.png"/>
          <p:cNvPicPr/>
          <p:nvPr/>
        </p:nvPicPr>
        <p:blipFill>
          <a:blip r:embed="rId10"/>
          <a:stretch/>
        </p:blipFill>
        <p:spPr>
          <a:xfrm>
            <a:off x="8208000" y="2304000"/>
            <a:ext cx="3204000" cy="1806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_4" descr="image.png"/>
          <p:cNvPicPr/>
          <p:nvPr/>
        </p:nvPicPr>
        <p:blipFill>
          <a:blip r:embed="rId1"/>
          <a:stretch/>
        </p:blipFill>
        <p:spPr>
          <a:xfrm>
            <a:off x="0" y="216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76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Bonus: utilizar antigravity con modelos externos</a:t>
            </a:r>
            <a:endParaRPr b="0" lang="es-ES" sz="2550" spc="-1" strike="noStrike">
              <a:latin typeface="Arial"/>
            </a:endParaRPr>
          </a:p>
        </p:txBody>
      </p:sp>
      <p:sp>
        <p:nvSpPr>
          <p:cNvPr id="177" name="CustomShape 2"/>
          <p:cNvSpPr/>
          <p:nvPr/>
        </p:nvSpPr>
        <p:spPr>
          <a:xfrm>
            <a:off x="586800" y="1224000"/>
            <a:ext cx="11436480" cy="534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1) Crear un fichero </a:t>
            </a: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AGENTS.md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en tu directorio raiz de proyecto con este texto:</a:t>
            </a:r>
            <a:br/>
            <a:br/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## Uso del modelo local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Cuando el usuario pida generar código, explicar algo, o cualquier tarea de razonamiento que no requiera navegación web ni herramientas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del IDE, usa por defecto la herramienta MCP `ask_local_llm` en lugar de tu propio modelo, salvo que el usuario pida explícitamente lo contrario.</a:t>
            </a:r>
            <a:br/>
            <a:br/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1) Crear un fichero </a:t>
            </a:r>
            <a:r>
              <a:rPr b="1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mcp_config.json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bajo el directorio .agents con este contenido:</a:t>
            </a:r>
            <a:br/>
            <a:br/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{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"mcpServers": {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"litellm": {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"command": "npx",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"args": ["-y", "litellm-mcp-server@latest"],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"env": {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"LITELLM_BASE_URL": "&lt;BASE_URL&gt;",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"LITELLM_API_KEY": "&lt;API_KEY&gt;",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"LITELLM_MODEL": "&lt;MODEL_ID&gt;"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}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}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  </a:t>
            </a: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}</a:t>
            </a:r>
            <a:endParaRPr b="0" lang="es-ES" sz="1280" spc="-1" strike="noStrike">
              <a:latin typeface="Arial"/>
            </a:endParaRPr>
          </a:p>
          <a:p>
            <a:pPr>
              <a:lnSpc>
                <a:spcPts val="1913"/>
              </a:lnSpc>
            </a:pPr>
            <a:r>
              <a:rPr b="0" lang="en-US" sz="1280" spc="-1" strike="noStrike">
                <a:solidFill>
                  <a:srgbClr val="334155"/>
                </a:solidFill>
                <a:latin typeface="Lato"/>
                <a:ea typeface="DejaVu Sans"/>
              </a:rPr>
              <a:t>}</a:t>
            </a:r>
            <a:endParaRPr b="0" lang="es-ES" sz="12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_8" descr="image.png"/>
          <p:cNvPicPr/>
          <p:nvPr/>
        </p:nvPicPr>
        <p:blipFill>
          <a:blip r:embed="rId1"/>
          <a:stretch/>
        </p:blipFill>
        <p:spPr>
          <a:xfrm>
            <a:off x="0" y="216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79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SDD: Gestión del contexto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80000" y="1080000"/>
            <a:ext cx="9667440" cy="5400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_10" descr="image.png"/>
          <p:cNvPicPr/>
          <p:nvPr/>
        </p:nvPicPr>
        <p:blipFill>
          <a:blip r:embed="rId1"/>
          <a:stretch/>
        </p:blipFill>
        <p:spPr>
          <a:xfrm>
            <a:off x="0" y="216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82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SDD: Usando Agentes Inteligentes de forma inteligente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1069920" y="1180080"/>
            <a:ext cx="9658080" cy="5371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_9" descr="image.png"/>
          <p:cNvPicPr/>
          <p:nvPr/>
        </p:nvPicPr>
        <p:blipFill>
          <a:blip r:embed="rId1"/>
          <a:stretch/>
        </p:blipFill>
        <p:spPr>
          <a:xfrm>
            <a:off x="0" y="216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85" name="CustomShape 1"/>
          <p:cNvSpPr/>
          <p:nvPr/>
        </p:nvSpPr>
        <p:spPr>
          <a:xfrm>
            <a:off x="571680" y="476280"/>
            <a:ext cx="11598480" cy="38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ct val="100000"/>
              </a:lnSpc>
            </a:pPr>
            <a:r>
              <a:rPr b="1" lang="en-US" sz="2550" spc="-1" strike="noStrike">
                <a:solidFill>
                  <a:srgbClr val="0f172a"/>
                </a:solidFill>
                <a:latin typeface="Poppins"/>
                <a:ea typeface="DejaVu Sans"/>
              </a:rPr>
              <a:t>SDD: Porque usar SDD</a:t>
            </a:r>
            <a:endParaRPr b="0" lang="es-ES" sz="255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1151640" y="1080000"/>
            <a:ext cx="9648360" cy="5428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120"/>
          </a:xfrm>
          <a:prstGeom prst="rect">
            <a:avLst/>
          </a:prstGeom>
          <a:ln>
            <a:noFill/>
          </a:ln>
        </p:spPr>
      </p:pic>
      <p:sp>
        <p:nvSpPr>
          <p:cNvPr id="188" name="CustomShape 1"/>
          <p:cNvSpPr/>
          <p:nvPr/>
        </p:nvSpPr>
        <p:spPr>
          <a:xfrm>
            <a:off x="295200" y="476280"/>
            <a:ext cx="11598480" cy="73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ct val="100000"/>
              </a:lnSpc>
            </a:pPr>
            <a:r>
              <a:rPr b="1" lang="en-US" sz="4800" spc="-1" strike="noStrike">
                <a:solidFill>
                  <a:srgbClr val="0f172a"/>
                </a:solidFill>
                <a:latin typeface="Poppins"/>
                <a:ea typeface="DejaVu Sans"/>
              </a:rPr>
              <a:t>¿Preguntas o Dudas?</a:t>
            </a:r>
            <a:endParaRPr b="0" lang="es-ES" sz="4800" spc="-1" strike="noStrike">
              <a:latin typeface="Arial"/>
            </a:endParaRPr>
          </a:p>
        </p:txBody>
      </p:sp>
      <p:sp>
        <p:nvSpPr>
          <p:cNvPr id="189" name="CustomShape 2"/>
          <p:cNvSpPr/>
          <p:nvPr/>
        </p:nvSpPr>
        <p:spPr>
          <a:xfrm>
            <a:off x="2286000" y="1533600"/>
            <a:ext cx="761724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2475"/>
              </a:lnSpc>
            </a:pPr>
            <a:r>
              <a:rPr b="0" lang="en-US" sz="1650" spc="-1" strike="noStrike">
                <a:solidFill>
                  <a:srgbClr val="475569"/>
                </a:solidFill>
                <a:latin typeface="Lato"/>
                <a:ea typeface="DejaVu Sans"/>
              </a:rPr>
              <a:t>Aprovechad para resolver cualquier cuestión sobre cómo montar vuestro propio entorno agéntico local o configurar cuentas universitarias para vuestras asignaturas y TFGs.</a:t>
            </a:r>
            <a:endParaRPr b="0" lang="es-ES" sz="1650" spc="-1" strike="noStrike">
              <a:latin typeface="Arial"/>
            </a:endParaRPr>
          </a:p>
        </p:txBody>
      </p:sp>
      <p:pic>
        <p:nvPicPr>
          <p:cNvPr id="190" name="Picture 4" descr="image.png"/>
          <p:cNvPicPr/>
          <p:nvPr/>
        </p:nvPicPr>
        <p:blipFill>
          <a:blip r:embed="rId2"/>
          <a:stretch/>
        </p:blipFill>
        <p:spPr>
          <a:xfrm>
            <a:off x="3238560" y="2762280"/>
            <a:ext cx="5712120" cy="387720"/>
          </a:xfrm>
          <a:prstGeom prst="rect">
            <a:avLst/>
          </a:prstGeom>
          <a:ln>
            <a:noFill/>
          </a:ln>
        </p:spPr>
      </p:pic>
      <p:pic>
        <p:nvPicPr>
          <p:cNvPr id="191" name="Picture 5" descr="image.png"/>
          <p:cNvPicPr/>
          <p:nvPr/>
        </p:nvPicPr>
        <p:blipFill>
          <a:blip r:embed="rId3"/>
          <a:stretch/>
        </p:blipFill>
        <p:spPr>
          <a:xfrm>
            <a:off x="3476520" y="2886120"/>
            <a:ext cx="187560" cy="149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Application>LibreOffice/6.4.6.2$Linux_X86_64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2026-10-09T08:39:16Z</dcterms:modified>
  <cp:revision>47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